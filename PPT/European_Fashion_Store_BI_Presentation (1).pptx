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_MASTER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24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image" Target="../media/image-3-1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image" Target="../media/image-16-1.png"/><Relationship Id="rId8" Type="http://schemas.openxmlformats.org/officeDocument/2006/relationships/image" Target="../media/image-16-1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620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PORTFOLIO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European Fashion Store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9C7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Business Analytics 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3520440"/>
            <a:ext cx="2011680" cy="0"/>
          </a:xfrm>
          <a:prstGeom prst="line">
            <a:avLst/>
          </a:prstGeom>
          <a:noFill/>
          <a:ln w="19050">
            <a:solidFill>
              <a:srgbClr val="B08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Data Analytics &amp; Business Intelligence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5074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23036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[Your Name]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C9B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 |  Business Intelligence Project  |  Power BI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0" y="5257800"/>
            <a:ext cx="777240" cy="77724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3" name="Image 0" descr="icons/chart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0482" y="5459882"/>
            <a:ext cx="373075" cy="3730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European fashion-store performance across sales, customers, products, campaigns, inventory, countries and channels — turning raw transactional data into an interactive Power BI decision-making tool.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309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7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231" y="275746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43078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1523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1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71" y="27574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7650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1292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9737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5" name="Image 2" descr="icons/tshi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511" y="2757465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5864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9506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77951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9" name="Image 3" descr="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651" y="2757465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4078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807720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6165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3" name="Image 4" descr="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4791" y="2757465"/>
            <a:ext cx="245791" cy="24579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2292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9959340" y="2423160"/>
            <a:ext cx="168097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0543794" y="2624328"/>
            <a:ext cx="512064" cy="51206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7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6931" y="2757465"/>
            <a:ext cx="245791" cy="24579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005060" y="3291840"/>
            <a:ext cx="15895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Channels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BUSINESS INSIGHT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48640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241620"/>
          </a:solidFill>
          <a:ln/>
        </p:spPr>
      </p:sp>
      <p:sp>
        <p:nvSpPr>
          <p:cNvPr id="31" name="Text 23"/>
          <p:cNvSpPr/>
          <p:nvPr/>
        </p:nvSpPr>
        <p:spPr>
          <a:xfrm>
            <a:off x="594360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2421636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241620"/>
          </a:solidFill>
          <a:ln/>
        </p:spPr>
      </p:sp>
      <p:sp>
        <p:nvSpPr>
          <p:cNvPr id="33" name="Text 25"/>
          <p:cNvSpPr/>
          <p:nvPr/>
        </p:nvSpPr>
        <p:spPr>
          <a:xfrm>
            <a:off x="2467356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4294632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241620"/>
          </a:solidFill>
          <a:ln/>
        </p:spPr>
      </p:sp>
      <p:sp>
        <p:nvSpPr>
          <p:cNvPr id="35" name="Text 27"/>
          <p:cNvSpPr/>
          <p:nvPr/>
        </p:nvSpPr>
        <p:spPr>
          <a:xfrm>
            <a:off x="4340352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167628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241620"/>
          </a:solidFill>
          <a:ln/>
        </p:spPr>
      </p:sp>
      <p:sp>
        <p:nvSpPr>
          <p:cNvPr id="37" name="Text 29"/>
          <p:cNvSpPr/>
          <p:nvPr/>
        </p:nvSpPr>
        <p:spPr>
          <a:xfrm>
            <a:off x="6213348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38" name="Shape 30"/>
          <p:cNvSpPr/>
          <p:nvPr/>
        </p:nvSpPr>
        <p:spPr>
          <a:xfrm>
            <a:off x="8040624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241620"/>
          </a:solidFill>
          <a:ln/>
        </p:spPr>
      </p:sp>
      <p:sp>
        <p:nvSpPr>
          <p:cNvPr id="39" name="Text 31"/>
          <p:cNvSpPr/>
          <p:nvPr/>
        </p:nvSpPr>
        <p:spPr>
          <a:xfrm>
            <a:off x="8086344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9913620" y="4709160"/>
            <a:ext cx="1726692" cy="868680"/>
          </a:xfrm>
          <a:prstGeom prst="roundRect">
            <a:avLst>
              <a:gd name="adj" fmla="val 7368"/>
            </a:avLst>
          </a:prstGeom>
          <a:solidFill>
            <a:srgbClr val="7D2E46"/>
          </a:solidFill>
          <a:ln/>
        </p:spPr>
      </p:sp>
      <p:sp>
        <p:nvSpPr>
          <p:cNvPr id="41" name="Text 33"/>
          <p:cNvSpPr/>
          <p:nvPr/>
        </p:nvSpPr>
        <p:spPr>
          <a:xfrm>
            <a:off x="9959340" y="4709160"/>
            <a:ext cx="16352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is spread across six disconnected tables, leaving stakeholders without a centralized view of overall performance: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427732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7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190" y="2556114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2148840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overall sales performance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08776" y="2148840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2427732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1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326" y="2556114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50024" y="2148840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high-performing products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401568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49808" y="3680460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5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3808842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9888" y="3401568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understanding customer behavior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08776" y="3401568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409944" y="3680460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9" name="Image 3" descr="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326" y="3808842"/>
            <a:ext cx="237012" cy="2370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50024" y="3401568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evaluating campaigns and discount strategy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65429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49808" y="4933188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3" name="Image 4" descr="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5061570"/>
            <a:ext cx="237012" cy="23701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89888" y="4654296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inventory &amp; stock-outs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08776" y="4654296"/>
            <a:ext cx="543153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09944" y="4933188"/>
            <a:ext cx="493776" cy="493776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7" name="Image 5" descr="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326" y="5061570"/>
            <a:ext cx="237012" cy="2370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50024" y="4654296"/>
            <a:ext cx="44256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comparing countries and sales channels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94485" y="181051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6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377" y="1948404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&amp; revenue performance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71850" y="155448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17695" y="181051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0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587" y="1948404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9010" y="246888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behavior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95060" y="155448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240905" y="181051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4" name="Image 2" descr="icons/tshi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797" y="1948404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32220" y="246888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products &amp; categories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018270" y="155448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064115" y="181051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8" name="Image 3" descr="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2007" y="1948404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55430" y="246888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campaign effectiveness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74904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594485" y="400507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2" name="Image 4" descr="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2377" y="4142964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5800" y="466344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stock &amp; out-of-stock products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371850" y="374904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417695" y="400507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6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5587" y="4142964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09010" y="466344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country &amp; channel performance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95060" y="3749040"/>
            <a:ext cx="262204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240905" y="4005072"/>
            <a:ext cx="530352" cy="530352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30" name="Image 6" descr="icons/bullsey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8797" y="4142964"/>
            <a:ext cx="254569" cy="25456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32220" y="4663440"/>
            <a:ext cx="234772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business decisions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33" name="Text 24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6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19579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7393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4871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&amp; acquisition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2920" y="15544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68952" y="181051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1" name="Image 1" descr="icons/bullho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353" y="19579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18760" y="177393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68952" y="24871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discount information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77200" y="155448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3232" y="181051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6" name="Image 2" descr="icons/tshi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633" y="19579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83040" y="177393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3232" y="248716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category &amp; pricing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377647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1" name="Image 3" descr="icons/invo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392387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73989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Item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04672" y="44531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sales transactions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12920" y="352044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68952" y="377647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6" name="Image 4" descr="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353" y="39238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18760" y="373989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68952" y="44531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availability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77200" y="3520440"/>
            <a:ext cx="356311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3232" y="3776472"/>
            <a:ext cx="566928" cy="56692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31" name="Image 5" descr="icons/chartli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0633" y="392387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83040" y="3739896"/>
            <a:ext cx="2374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 Sales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33232" y="4453128"/>
            <a:ext cx="3060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customers, channels &amp; revenue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241620"/>
          </a:solidFill>
          <a:ln/>
        </p:spPr>
      </p:sp>
      <p:sp>
        <p:nvSpPr>
          <p:cNvPr id="35" name="Text 27"/>
          <p:cNvSpPr/>
          <p:nvPr/>
        </p:nvSpPr>
        <p:spPr>
          <a:xfrm>
            <a:off x="548640" y="580644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  •   RELATIONAL BUSINESS DATASET   •   MULTI-DIMENSIONAL ANALYSIS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Transformation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4251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duplicate handling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7278" y="150876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31870" y="184251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9" name="Text 7"/>
          <p:cNvSpPr/>
          <p:nvPr/>
        </p:nvSpPr>
        <p:spPr>
          <a:xfrm>
            <a:off x="3824478" y="150876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/ missing value treatment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5916" y="150876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0508" y="184251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116" y="150876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Data-type validation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4554" y="150876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69146" y="184251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15" name="Text 13"/>
          <p:cNvSpPr/>
          <p:nvPr/>
        </p:nvSpPr>
        <p:spPr>
          <a:xfrm>
            <a:off x="9461754" y="150876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of categorical fields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56032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289407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5603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preparation &amp; formatting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7278" y="256032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31870" y="289407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21" name="Text 19"/>
          <p:cNvSpPr/>
          <p:nvPr/>
        </p:nvSpPr>
        <p:spPr>
          <a:xfrm>
            <a:off x="3824478" y="25603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creation across tables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85916" y="256032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0508" y="289407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24" name="Text 22"/>
          <p:cNvSpPr/>
          <p:nvPr/>
        </p:nvSpPr>
        <p:spPr>
          <a:xfrm>
            <a:off x="6643116" y="25603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04554" y="2560320"/>
            <a:ext cx="2635758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69146" y="2894076"/>
            <a:ext cx="201168" cy="201168"/>
          </a:xfrm>
          <a:prstGeom prst="ellipse">
            <a:avLst/>
          </a:prstGeom>
          <a:solidFill>
            <a:srgbClr val="B08A4E"/>
          </a:solidFill>
          <a:ln/>
        </p:spPr>
      </p:sp>
      <p:sp>
        <p:nvSpPr>
          <p:cNvPr id="27" name="Text 25"/>
          <p:cNvSpPr/>
          <p:nvPr/>
        </p:nvSpPr>
        <p:spPr>
          <a:xfrm>
            <a:off x="9461754" y="25603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for KPIs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PIPELINE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2086661" cy="960120"/>
          </a:xfrm>
          <a:prstGeom prst="roundRect">
            <a:avLst>
              <a:gd name="adj" fmla="val 6667"/>
            </a:avLst>
          </a:prstGeom>
          <a:solidFill>
            <a:srgbClr val="24162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389120"/>
            <a:ext cx="1995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99893" y="4389120"/>
            <a:ext cx="2086661" cy="960120"/>
          </a:xfrm>
          <a:prstGeom prst="roundRect">
            <a:avLst>
              <a:gd name="adj" fmla="val 6667"/>
            </a:avLst>
          </a:prstGeom>
          <a:solidFill>
            <a:srgbClr val="241620"/>
          </a:solidFill>
          <a:ln/>
        </p:spPr>
      </p:sp>
      <p:sp>
        <p:nvSpPr>
          <p:cNvPr id="32" name="Text 30"/>
          <p:cNvSpPr/>
          <p:nvPr/>
        </p:nvSpPr>
        <p:spPr>
          <a:xfrm>
            <a:off x="2845613" y="4389120"/>
            <a:ext cx="1995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51146" y="4389120"/>
            <a:ext cx="2086661" cy="960120"/>
          </a:xfrm>
          <a:prstGeom prst="roundRect">
            <a:avLst>
              <a:gd name="adj" fmla="val 6667"/>
            </a:avLst>
          </a:prstGeom>
          <a:solidFill>
            <a:srgbClr val="241620"/>
          </a:solidFill>
          <a:ln/>
        </p:spPr>
      </p:sp>
      <p:sp>
        <p:nvSpPr>
          <p:cNvPr id="34" name="Text 32"/>
          <p:cNvSpPr/>
          <p:nvPr/>
        </p:nvSpPr>
        <p:spPr>
          <a:xfrm>
            <a:off x="5096866" y="4389120"/>
            <a:ext cx="1995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02398" y="4389120"/>
            <a:ext cx="2086661" cy="960120"/>
          </a:xfrm>
          <a:prstGeom prst="roundRect">
            <a:avLst>
              <a:gd name="adj" fmla="val 6667"/>
            </a:avLst>
          </a:prstGeom>
          <a:solidFill>
            <a:srgbClr val="241620"/>
          </a:solidFill>
          <a:ln/>
        </p:spPr>
      </p:sp>
      <p:sp>
        <p:nvSpPr>
          <p:cNvPr id="36" name="Text 34"/>
          <p:cNvSpPr/>
          <p:nvPr/>
        </p:nvSpPr>
        <p:spPr>
          <a:xfrm>
            <a:off x="7348118" y="4389120"/>
            <a:ext cx="1995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553651" y="4389120"/>
            <a:ext cx="2086661" cy="960120"/>
          </a:xfrm>
          <a:prstGeom prst="roundRect">
            <a:avLst>
              <a:gd name="adj" fmla="val 6667"/>
            </a:avLst>
          </a:prstGeom>
          <a:solidFill>
            <a:srgbClr val="7D2E46"/>
          </a:solidFill>
          <a:ln/>
        </p:spPr>
      </p:sp>
      <p:sp>
        <p:nvSpPr>
          <p:cNvPr id="38" name="Text 36"/>
          <p:cNvSpPr/>
          <p:nvPr/>
        </p:nvSpPr>
        <p:spPr>
          <a:xfrm>
            <a:off x="9599371" y="4389120"/>
            <a:ext cx="1995221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103120"/>
            <a:ext cx="5943600" cy="594360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023360"/>
            <a:ext cx="5029200" cy="502920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 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04672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C7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walk-through of the report's navigation home, data model and five analytical dashboards, in the same order used inside Power BI.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Home &amp; Navigation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379647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69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landing page summarizing all 6 connected data tables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navigation into Campaign, Customer, Product, Sales and Inventory pages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descriptions frame the business purpose of each report page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fast orientation across the full analytics suite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72839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6427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74591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stakeholders navigate the full analytics suite quickly?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Relationships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238567"/>
          </a:xfrm>
          <a:prstGeom prst="roundRect">
            <a:avLst>
              <a:gd name="adj" fmla="val 1294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model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1288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style relationships across all 6 tables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Products &amp; Campaigns act as dimension context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Sales, Sales Items &amp; Stock carry transactional facts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enable correct filter propagation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structure supports fast, accurate DAX measures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631759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72319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4933511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underlying data structured to support reliable analysis?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403553"/>
          </a:xfrm>
          <a:prstGeom prst="roundRect">
            <a:avLst>
              <a:gd name="adj" fmla="val 1246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campa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938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campaigns tracked with an average discount value of 3.29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value by campaign — Early Summer and Easter Promotions lead activity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evenly distributed across App Mobile, Email, Social Media &amp; Website Banner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age range declines steadily from 69.5K (26-35) to 57.8K (56-65)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96745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88185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9849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campaigns and promotional strategies perform effectively?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389764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custom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800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count and total sales KPIs with Country / Year filters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trends by category, led by T-Shirts, Shoes and Dresses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buy price vs MSRP compared across top products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slicers for France, Italy, Germany and the Netherlands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82956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7439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8470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are our customers, and how do they contribute to the business?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395141"/>
          </a:xfrm>
          <a:prstGeom prst="roundRect">
            <a:avLst>
              <a:gd name="adj" fmla="val 1248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85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 count (499) and total sales KPI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count by brand — Savana, H&amp;M, Zara, Gucci and NEW ME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MSRP vs Buy Price compared by category to assess margin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colour, category and size for deeper drill-down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88333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7977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90085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products, brands and categories are driving performance?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Sales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333817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240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customer count and country count at a glance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compared across Instagram vs Mobile App channels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overview showing revenue share by product category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channel slicer for on-the-fly filtering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27009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1844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28761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the fashion store performing overall?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&amp; Stock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3776" y="1408176"/>
            <a:ext cx="7744968" cy="4393437"/>
          </a:xfrm>
          <a:prstGeom prst="roundRect">
            <a:avLst>
              <a:gd name="adj" fmla="val 1249"/>
            </a:avLst>
          </a:prstGeom>
          <a:solidFill>
            <a:srgbClr val="FFFFFF"/>
          </a:solidFill>
          <a:ln w="15875">
            <a:solidFill>
              <a:srgbClr val="E4DAD2"/>
            </a:solidFill>
            <a:prstDash val="solid"/>
          </a:ln>
          <a:effectLst>
            <a:outerShdw sx="100000" sy="100000" kx="0" ky="0" algn="bl" rotWithShape="0" blurRad="127000" dist="38100" dir="5400000">
              <a:srgbClr val="3A2A30">
                <a:alpha val="22000"/>
              </a:srgbClr>
            </a:outerShdw>
          </a:effectLst>
        </p:spPr>
      </p:sp>
      <p:pic>
        <p:nvPicPr>
          <p:cNvPr id="5" name="Image 0" descr="images/dash_inven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35240" cy="42837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463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SHOWS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49640" y="1755648"/>
            <a:ext cx="310896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total stock units tracked across 499 categories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 split: 45.65% in stock vs 45.65% out of stock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quantity by category — Dresses and T-Shirts hold the most units</a:t>
            </a:r>
            <a:endParaRPr lang="en-US" sz="1150" dirty="0"/>
          </a:p>
          <a:p>
            <a:pPr marL="152400" indent="-152400">
              <a:lnSpc>
                <a:spcPts val="1600"/>
              </a:lnSpc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Colour-variety breakdown available by individual product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49640" y="4786629"/>
            <a:ext cx="3108960" cy="960120"/>
          </a:xfrm>
          <a:prstGeom prst="roundRect">
            <a:avLst>
              <a:gd name="adj" fmla="val 7619"/>
            </a:avLst>
          </a:prstGeom>
          <a:solidFill>
            <a:srgbClr val="241620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487806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5088381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the inventory gaps that could affect sales?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6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70" y="177357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6642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22128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outpaces Mobile App (172K vs 153K), and the five product categories share revenue almost evenly (~20% each).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" y="31546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2278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where to focus channel investment.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06824" y="14630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16642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3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354" y="1773570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56632" y="16642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07992" y="22128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customers span France, Italy, Germany and the Netherlands, with T-Shirts, Shoes and Dresses as the top buying categories.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07992" y="31546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07992" y="32278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segments to target for retention.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065008" y="14630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66176" y="16642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0" name="Image 2" descr="icons/tshi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538" y="1773570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14816" y="16642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266176" y="22128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products across 5 brands (Savana, H&amp;M, Zara, Gucci, NEW ME) show consistent MSRP-to-buy-price margins by category.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266176" y="31546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266176" y="32278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categories protect margin best.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39776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49808" y="41788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7" name="Image 3" descr="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170" y="4288170"/>
            <a:ext cx="201900" cy="2019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98448" y="41788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749808" y="47274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Summer and Easter Promotions carry the highest discount activity among 7 tracked campaigns; sales split evenly across 4 channels.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49808" y="56692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9808" y="57424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campaigns merit repeating.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306824" y="39776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07992" y="41788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34" name="Image 4" descr="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354" y="4288170"/>
            <a:ext cx="201900" cy="2019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56632" y="41788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450" dirty="0"/>
          </a:p>
        </p:txBody>
      </p:sp>
      <p:sp>
        <p:nvSpPr>
          <p:cNvPr id="36" name="Text 29"/>
          <p:cNvSpPr/>
          <p:nvPr/>
        </p:nvSpPr>
        <p:spPr>
          <a:xfrm>
            <a:off x="4507992" y="47274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nearly split down the middle — 45.65% in stock vs 45.65% out of stock across 1,000 units.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507992" y="56692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507992" y="57424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meaningful stock-out risk to manage.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065008" y="3977640"/>
            <a:ext cx="3575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66176" y="4178808"/>
            <a:ext cx="420624" cy="420624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41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538" y="4288170"/>
            <a:ext cx="201900" cy="2019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814816" y="4178808"/>
            <a:ext cx="2660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/ Channel</a:t>
            </a:r>
            <a:endParaRPr lang="en-US" sz="1450" dirty="0"/>
          </a:p>
        </p:txBody>
      </p:sp>
      <p:sp>
        <p:nvSpPr>
          <p:cNvPr id="43" name="Text 35"/>
          <p:cNvSpPr/>
          <p:nvPr/>
        </p:nvSpPr>
        <p:spPr>
          <a:xfrm>
            <a:off x="8266176" y="4727448"/>
            <a:ext cx="31729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tracked consistently across countries and both digital channels, enabling direct market comparison.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8266176" y="5669280"/>
            <a:ext cx="3172968" cy="0"/>
          </a:xfrm>
          <a:prstGeom prst="line">
            <a:avLst/>
          </a:prstGeom>
          <a:noFill/>
          <a:ln w="12700">
            <a:solidFill>
              <a:srgbClr val="E4DAD2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8266176" y="57424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market-level expansion decisions.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47" name="Text 3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28216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6" name="Image 0" descr="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84708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5024" y="1508760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stock-out risk for high-demand categories like Dresses &amp; T-Shirts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95060" y="1508760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77940" y="1728216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0" name="Image 1" descr="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812" y="184708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81444" y="1508760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Reinvest in Instagram given its stronger channel contribution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569464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4" name="Image 2" descr="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90779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35024" y="2569464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and scale Early Summer &amp; Easter-style promotional campaigns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95060" y="2569464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77940" y="2788920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8" name="Image 3" descr="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6812" y="290779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81444" y="2569464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margin by monitoring MSRP-to-buy-price gaps by category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630168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31520" y="3849624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2" name="Image 4" descr="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68496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35024" y="3630168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age-range and country segmentation for targeted promotions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95060" y="3630168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377940" y="3849624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6" name="Image 5" descr="icons/check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812" y="3968496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81444" y="3630168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brand-level performance to prioritize top-performing partners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4690872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31520" y="4910328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30" name="Image 6" descr="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029200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35024" y="4690872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channel mix across Email, Social Media &amp; Website Banner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195060" y="4690872"/>
            <a:ext cx="5445252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377940" y="4910328"/>
            <a:ext cx="457200" cy="457200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34" name="Image 7" descr="icons/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6812" y="5029200"/>
            <a:ext cx="219456" cy="21945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981444" y="4690872"/>
            <a:ext cx="448513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Power BI dashboard for ongoing performance monitoring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37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Technical Skills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43484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DAD2"/>
            </a:solidFill>
            <a:prstDash val="solid"/>
          </a:ln>
          <a:effectLst>
            <a:outerShdw sx="100000" sy="100000" kx="0" ky="0" algn="bl" rotWithShape="0" blurRad="101600" dist="38100" dir="5400000">
              <a:srgbClr val="3A2A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49424"/>
            <a:ext cx="164592" cy="164592"/>
          </a:xfrm>
          <a:prstGeom prst="ellipse">
            <a:avLst/>
          </a:prstGeom>
          <a:solidFill>
            <a:srgbClr val="7D2E4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21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871216"/>
            <a:ext cx="164592" cy="164592"/>
          </a:xfrm>
          <a:prstGeom prst="ellipse">
            <a:avLst/>
          </a:prstGeom>
          <a:solidFill>
            <a:srgbClr val="7D2E4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93008"/>
            <a:ext cx="164592" cy="164592"/>
          </a:xfrm>
          <a:prstGeom prst="ellipse">
            <a:avLst/>
          </a:prstGeom>
          <a:solidFill>
            <a:srgbClr val="7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64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64592" cy="164592"/>
          </a:xfrm>
          <a:prstGeom prst="ellipse">
            <a:avLst/>
          </a:prstGeom>
          <a:solidFill>
            <a:srgbClr val="7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86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1874520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874520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91528" y="1874520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18" name="Text 16"/>
          <p:cNvSpPr/>
          <p:nvPr/>
        </p:nvSpPr>
        <p:spPr>
          <a:xfrm>
            <a:off x="6964680" y="1874520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48216" y="1874520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20" name="Text 18"/>
          <p:cNvSpPr/>
          <p:nvPr/>
        </p:nvSpPr>
        <p:spPr>
          <a:xfrm>
            <a:off x="9421368" y="1874520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34840" y="2578608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2578608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91528" y="2578608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24" name="Text 22"/>
          <p:cNvSpPr/>
          <p:nvPr/>
        </p:nvSpPr>
        <p:spPr>
          <a:xfrm>
            <a:off x="6964680" y="2578608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48216" y="2578608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26" name="Text 24"/>
          <p:cNvSpPr/>
          <p:nvPr/>
        </p:nvSpPr>
        <p:spPr>
          <a:xfrm>
            <a:off x="9421368" y="2578608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Development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34840" y="3282696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28" name="Text 26"/>
          <p:cNvSpPr/>
          <p:nvPr/>
        </p:nvSpPr>
        <p:spPr>
          <a:xfrm>
            <a:off x="4507992" y="3282696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91528" y="3282696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30" name="Text 28"/>
          <p:cNvSpPr/>
          <p:nvPr/>
        </p:nvSpPr>
        <p:spPr>
          <a:xfrm>
            <a:off x="6964680" y="3282696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348216" y="3282696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32" name="Text 30"/>
          <p:cNvSpPr/>
          <p:nvPr/>
        </p:nvSpPr>
        <p:spPr>
          <a:xfrm>
            <a:off x="9421368" y="3282696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34840" y="3986784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34" name="Text 32"/>
          <p:cNvSpPr/>
          <p:nvPr/>
        </p:nvSpPr>
        <p:spPr>
          <a:xfrm>
            <a:off x="4507992" y="3986784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91528" y="3986784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36" name="Text 34"/>
          <p:cNvSpPr/>
          <p:nvPr/>
        </p:nvSpPr>
        <p:spPr>
          <a:xfrm>
            <a:off x="6964680" y="3986784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348216" y="3986784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38" name="Text 36"/>
          <p:cNvSpPr/>
          <p:nvPr/>
        </p:nvSpPr>
        <p:spPr>
          <a:xfrm>
            <a:off x="9421368" y="3986784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Analytics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34840" y="4690872"/>
            <a:ext cx="2310384" cy="566928"/>
          </a:xfrm>
          <a:prstGeom prst="roundRect">
            <a:avLst>
              <a:gd name="adj" fmla="val 64516"/>
            </a:avLst>
          </a:prstGeom>
          <a:solidFill>
            <a:srgbClr val="241620"/>
          </a:solidFill>
          <a:ln/>
        </p:spPr>
      </p:sp>
      <p:sp>
        <p:nvSpPr>
          <p:cNvPr id="40" name="Text 38"/>
          <p:cNvSpPr/>
          <p:nvPr/>
        </p:nvSpPr>
        <p:spPr>
          <a:xfrm>
            <a:off x="4507992" y="4690872"/>
            <a:ext cx="2164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Analysis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94560"/>
            <a:ext cx="5760720" cy="576072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480560"/>
            <a:ext cx="5120640" cy="5120640"/>
          </a:xfrm>
          <a:prstGeom prst="ellipse">
            <a:avLst/>
          </a:prstGeom>
          <a:solidFill>
            <a:srgbClr val="34212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08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8F4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transformed six connected fashion-retail tables into a single, interactive Power BI business-intelligence solution.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528316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8" name="Image 0" descr="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404" y="2628168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331720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sales performance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04360" y="2331720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68952" y="2528316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2" name="Image 1" descr="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804" y="2628168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62728" y="2331720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85760" y="2331720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0352" y="2528316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16" name="Image 2" descr="icons/tshi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0204" y="2628168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4128" y="2331720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products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22960" y="3310128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7552" y="3506724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0" name="Image 3" descr="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04" y="3606576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81328" y="3310128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campaign effectiveness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404360" y="3310128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68952" y="3506724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4" name="Image 4" descr="icons/warehou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804" y="3606576"/>
            <a:ext cx="184343" cy="18434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62728" y="3310128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985760" y="3310128"/>
            <a:ext cx="3352800" cy="777240"/>
          </a:xfrm>
          <a:prstGeom prst="roundRect">
            <a:avLst>
              <a:gd name="adj" fmla="val 9412"/>
            </a:avLst>
          </a:prstGeom>
          <a:solidFill>
            <a:srgbClr val="34212D"/>
          </a:solidFill>
          <a:ln w="12700">
            <a:solidFill>
              <a:srgbClr val="4A354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150352" y="3506724"/>
            <a:ext cx="384048" cy="384048"/>
          </a:xfrm>
          <a:prstGeom prst="ellipse">
            <a:avLst/>
          </a:prstGeom>
          <a:solidFill>
            <a:srgbClr val="7D2E46"/>
          </a:solidFill>
          <a:ln/>
        </p:spPr>
      </p:sp>
      <p:pic>
        <p:nvPicPr>
          <p:cNvPr id="28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0204" y="3606576"/>
            <a:ext cx="184343" cy="18434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44128" y="3310128"/>
            <a:ext cx="252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F8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countries &amp; channels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22960" y="5349240"/>
            <a:ext cx="2743200" cy="0"/>
          </a:xfrm>
          <a:prstGeom prst="line">
            <a:avLst/>
          </a:prstGeom>
          <a:noFill/>
          <a:ln w="19050">
            <a:solidFill>
              <a:srgbClr val="B08A4E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822960" y="5532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08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“Turning Retail Data into Actionable Business Insights.”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FASHION STORE  |  SALES &amp; BUSINESS ANALYTICS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2026-09-11T17:41:40Z</dcterms:created>
  <dcterms:modified xsi:type="dcterms:W3CDTF">2026-09-11T17:41:40Z</dcterms:modified>
</cp:coreProperties>
</file>